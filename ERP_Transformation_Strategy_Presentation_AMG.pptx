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Libre Baskerville" panose="02000000000000000000" pitchFamily="2" charset="0"/>
      <p:regular r:id="rId11"/>
    </p:embeddedFont>
    <p:embeddedFont>
      <p:font typeface="Open Sans" panose="020B0606030504020204" pitchFamily="34" charset="0"/>
      <p:regular r:id="rId12"/>
    </p:embeddedFont>
    <p:embeddedFont>
      <p:font typeface="Open Sans Bold" panose="020B0604020202020204" charset="0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760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165250"/>
            <a:ext cx="4722763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ERP Transformation Strategy and Implementation Recommendations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4979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Executive Presentation to the Executive Team · Alpha Manufacturing Group (AMG)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20" y="3762896"/>
            <a:ext cx="1887220" cy="172863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403CCF"/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6" name="Text 3"/>
          <p:cNvSpPr/>
          <p:nvPr/>
        </p:nvSpPr>
        <p:spPr>
          <a:xfrm>
            <a:off x="571094" y="3794081"/>
            <a:ext cx="173727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3CC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 BY FREDERICK OFORI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0680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Why AMG Must Transform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78123"/>
            <a:ext cx="3350419" cy="3350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30800" y="1116285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Current Challenges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730800" y="1425997"/>
            <a:ext cx="3921844" cy="13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Legacy ERP system (20+ years) with no vendor support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Fragmented business systems with no integration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BOM synchronization failures across engineering and production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Heavy spreadsheet reliance for planning and reporting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cost and margin visibility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30800" y="2841278"/>
            <a:ext cx="392184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30800" y="3150989"/>
            <a:ext cx="3921844" cy="651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Margin erosion on ~80% of custom orders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Manufacturing delays and poor operational visibility</a:t>
            </a:r>
            <a:endParaRPr lang="en-US" sz="950" dirty="0"/>
          </a:p>
          <a:p>
            <a:pPr marL="193040" indent="-193040" algn="l">
              <a:lnSpc>
                <a:spcPct val="126000"/>
              </a:lnSpc>
              <a:buSzPct val="100000"/>
              <a:buChar char="•"/>
            </a:pP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reporting and inefficient decision-making</a:t>
            </a:r>
            <a:endParaRPr lang="en-US" sz="95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6685FD6-16FD-D4FA-ADC6-1E79A3C2B965}"/>
              </a:ext>
            </a:extLst>
          </p:cNvPr>
          <p:cNvGrpSpPr/>
          <p:nvPr/>
        </p:nvGrpSpPr>
        <p:grpSpPr>
          <a:xfrm>
            <a:off x="4726037" y="3981226"/>
            <a:ext cx="3921844" cy="647402"/>
            <a:chOff x="4730800" y="3928914"/>
            <a:chExt cx="3921844" cy="647402"/>
          </a:xfrm>
        </p:grpSpPr>
        <p:sp>
          <p:nvSpPr>
            <p:cNvPr id="8" name="Shape 5"/>
            <p:cNvSpPr/>
            <p:nvPr/>
          </p:nvSpPr>
          <p:spPr>
            <a:xfrm>
              <a:off x="4730800" y="3928914"/>
              <a:ext cx="3921844" cy="647402"/>
            </a:xfrm>
            <a:prstGeom prst="roundRect">
              <a:avLst>
                <a:gd name="adj" fmla="val 2925"/>
              </a:avLst>
            </a:prstGeom>
            <a:solidFill>
              <a:srgbClr val="D7D6F5"/>
            </a:solidFill>
            <a:ln/>
          </p:spPr>
          <p:txBody>
            <a:bodyPr/>
            <a:lstStyle/>
            <a:p>
              <a:endParaRPr lang="en-GH" dirty="0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57006" y="4119116"/>
              <a:ext cx="157758" cy="126206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5140970" y="4061668"/>
              <a:ext cx="3385468" cy="3818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26000"/>
                </a:lnSpc>
                <a:buNone/>
              </a:pPr>
              <a:r>
                <a:rPr lang="en-US" sz="950" b="1" dirty="0">
                  <a:solidFill>
                    <a:srgbClr val="000000"/>
                  </a:solidFill>
                  <a:latin typeface="Open Sans Bold" pitchFamily="34" charset="0"/>
                  <a:ea typeface="Open Sans Bold" pitchFamily="34" charset="-122"/>
                  <a:cs typeface="Open Sans Bold" pitchFamily="34" charset="-120"/>
                </a:rPr>
                <a:t>Fragmented systems are limiting operational efficiency, profitability, and growth.</a:t>
              </a:r>
              <a:endParaRPr lang="en-US" sz="950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D4E3C94C-F3C2-AA56-3604-7CDD07860C50}"/>
              </a:ext>
            </a:extLst>
          </p:cNvPr>
          <p:cNvSpPr/>
          <p:nvPr/>
        </p:nvSpPr>
        <p:spPr>
          <a:xfrm>
            <a:off x="7818764" y="4822031"/>
            <a:ext cx="1286318" cy="306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229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Vision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496119" y="1080567"/>
            <a:ext cx="14288" cy="672703"/>
          </a:xfrm>
          <a:prstGeom prst="roundRect">
            <a:avLst>
              <a:gd name="adj" fmla="val 59998"/>
            </a:avLst>
          </a:prstGeom>
          <a:solidFill>
            <a:srgbClr val="403CCF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692125" y="1216075"/>
            <a:ext cx="795575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a phased cloud ERP transformation that improves operational efficiency, strengthens data governance, and delivers enterprise-wide visibility while minimizing business disruption.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96119" y="1888778"/>
            <a:ext cx="2636937" cy="1451893"/>
          </a:xfrm>
          <a:prstGeom prst="roundRect">
            <a:avLst>
              <a:gd name="adj" fmla="val 135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6" name="Shape 4"/>
          <p:cNvSpPr/>
          <p:nvPr/>
        </p:nvSpPr>
        <p:spPr>
          <a:xfrm>
            <a:off x="626790" y="2019449"/>
            <a:ext cx="392013" cy="392013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4616" y="2127200"/>
            <a:ext cx="176361" cy="1763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6790" y="2531938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Continuity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26790" y="2808312"/>
            <a:ext cx="237559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disruption to live operations during transition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53532" y="1888778"/>
            <a:ext cx="2636937" cy="1451893"/>
          </a:xfrm>
          <a:prstGeom prst="roundRect">
            <a:avLst>
              <a:gd name="adj" fmla="val 135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1" name="Shape 8"/>
          <p:cNvSpPr/>
          <p:nvPr/>
        </p:nvSpPr>
        <p:spPr>
          <a:xfrm>
            <a:off x="3384203" y="2019449"/>
            <a:ext cx="392013" cy="392013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92029" y="2127200"/>
            <a:ext cx="176361" cy="1763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4203" y="2531938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Integrity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384203" y="2808312"/>
            <a:ext cx="237559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Accurate, governed data across all functions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010945" y="1888778"/>
            <a:ext cx="2636937" cy="1451893"/>
          </a:xfrm>
          <a:prstGeom prst="roundRect">
            <a:avLst>
              <a:gd name="adj" fmla="val 1350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Shape 12"/>
          <p:cNvSpPr/>
          <p:nvPr/>
        </p:nvSpPr>
        <p:spPr>
          <a:xfrm>
            <a:off x="6141616" y="2019449"/>
            <a:ext cx="392013" cy="392013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9442" y="2127200"/>
            <a:ext cx="176361" cy="1763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41616" y="2531938"/>
            <a:ext cx="237559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Operational Visibility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141616" y="2808312"/>
            <a:ext cx="2375595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KPIs and unified reporting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96119" y="3461147"/>
            <a:ext cx="4015606" cy="1251049"/>
          </a:xfrm>
          <a:prstGeom prst="roundRect">
            <a:avLst>
              <a:gd name="adj" fmla="val 15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1" name="Shape 16"/>
          <p:cNvSpPr/>
          <p:nvPr/>
        </p:nvSpPr>
        <p:spPr>
          <a:xfrm>
            <a:off x="626790" y="3591818"/>
            <a:ext cx="392013" cy="392013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616" y="3699570"/>
            <a:ext cx="176361" cy="1763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26790" y="4104308"/>
            <a:ext cx="375426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Controlled Delivery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26790" y="4380681"/>
            <a:ext cx="375426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Phased approach with clear governance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632201" y="3461147"/>
            <a:ext cx="4015680" cy="1251049"/>
          </a:xfrm>
          <a:prstGeom prst="roundRect">
            <a:avLst>
              <a:gd name="adj" fmla="val 15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6" name="Shape 20"/>
          <p:cNvSpPr/>
          <p:nvPr/>
        </p:nvSpPr>
        <p:spPr>
          <a:xfrm>
            <a:off x="4762872" y="3591818"/>
            <a:ext cx="392013" cy="392013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0698" y="3699570"/>
            <a:ext cx="176361" cy="17636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62872" y="4104308"/>
            <a:ext cx="3754338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Long-Term Scalability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762872" y="4380681"/>
            <a:ext cx="3754338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Platform built for future business demands</a:t>
            </a:r>
            <a:endParaRPr lang="en-US" sz="10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9EBA93-AD97-CAD1-D6E0-B1FA61125E16}"/>
              </a:ext>
            </a:extLst>
          </p:cNvPr>
          <p:cNvSpPr/>
          <p:nvPr/>
        </p:nvSpPr>
        <p:spPr>
          <a:xfrm>
            <a:off x="7818764" y="4822031"/>
            <a:ext cx="1286318" cy="306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29890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Recommended Delivery Approach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635645" y="1367730"/>
            <a:ext cx="14288" cy="3345879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Shape 2"/>
          <p:cNvSpPr/>
          <p:nvPr/>
        </p:nvSpPr>
        <p:spPr>
          <a:xfrm>
            <a:off x="760884" y="1500113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6" name="Shape 3"/>
          <p:cNvSpPr/>
          <p:nvPr/>
        </p:nvSpPr>
        <p:spPr>
          <a:xfrm>
            <a:off x="496119" y="1367730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Text 4"/>
          <p:cNvSpPr/>
          <p:nvPr/>
        </p:nvSpPr>
        <p:spPr>
          <a:xfrm>
            <a:off x="542627" y="1390985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55886" y="1410370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Discovery &amp; Design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55886" y="1669331"/>
            <a:ext cx="396299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Months 1–2</a:t>
            </a: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Process mapping, requirements definition, and solution design.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60884" y="2390849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1" name="Shape 8"/>
          <p:cNvSpPr/>
          <p:nvPr/>
        </p:nvSpPr>
        <p:spPr>
          <a:xfrm>
            <a:off x="496119" y="2258467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2" name="Text 9"/>
          <p:cNvSpPr/>
          <p:nvPr/>
        </p:nvSpPr>
        <p:spPr>
          <a:xfrm>
            <a:off x="542627" y="2281721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255886" y="2301106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Core ERP Deployment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55886" y="2560067"/>
            <a:ext cx="396299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Months 3–7</a:t>
            </a: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Finance, procurement, inventory, and manufacturing modules configured and tested.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0884" y="3281586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Shape 13"/>
          <p:cNvSpPr/>
          <p:nvPr/>
        </p:nvSpPr>
        <p:spPr>
          <a:xfrm>
            <a:off x="496119" y="3149203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7" name="Text 14"/>
          <p:cNvSpPr/>
          <p:nvPr/>
        </p:nvSpPr>
        <p:spPr>
          <a:xfrm>
            <a:off x="542627" y="3172458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255886" y="3191842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Engineering Integration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55886" y="3450803"/>
            <a:ext cx="396299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Months 8–11</a:t>
            </a: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BOM synchronization, MRP, and engineering-to-production workflows integrated.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760884" y="4172322"/>
            <a:ext cx="372070" cy="14288"/>
          </a:xfrm>
          <a:prstGeom prst="roundRect">
            <a:avLst>
              <a:gd name="adj" fmla="val 1302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1" name="Shape 18"/>
          <p:cNvSpPr/>
          <p:nvPr/>
        </p:nvSpPr>
        <p:spPr>
          <a:xfrm>
            <a:off x="496119" y="4039939"/>
            <a:ext cx="279053" cy="279053"/>
          </a:xfrm>
          <a:prstGeom prst="roundRect">
            <a:avLst>
              <a:gd name="adj" fmla="val 666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2" name="Text 19"/>
          <p:cNvSpPr/>
          <p:nvPr/>
        </p:nvSpPr>
        <p:spPr>
          <a:xfrm>
            <a:off x="542627" y="4063194"/>
            <a:ext cx="18603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255886" y="4082579"/>
            <a:ext cx="396299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Go-Live &amp; Optimization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55886" y="4341540"/>
            <a:ext cx="396299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Month 12</a:t>
            </a:r>
            <a:r>
              <a:rPr lang="en-US" sz="9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 Controlled cutover, hypercare support, and post-launch optimization.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265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Deliver the Essentials First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318245"/>
            <a:ext cx="4107135" cy="3162598"/>
          </a:xfrm>
          <a:prstGeom prst="roundRect">
            <a:avLst>
              <a:gd name="adj" fmla="val 672"/>
            </a:avLst>
          </a:prstGeom>
          <a:solidFill>
            <a:srgbClr val="403CCF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4" name="Text 2"/>
          <p:cNvSpPr/>
          <p:nvPr/>
        </p:nvSpPr>
        <p:spPr>
          <a:xfrm>
            <a:off x="535781" y="1460004"/>
            <a:ext cx="382361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Day-One Go-Live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1823219"/>
            <a:ext cx="3823618" cy="18850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Finance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Procurement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Inventory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Manufacturing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MRP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BOM Integration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Orders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49701" y="1460004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Deferred to Later Phases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49701" y="1823219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CRM enhancements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analytics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 automation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Non-essential reports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Additional integrations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49701" y="3314998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D7D6F5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460" y="3534817"/>
            <a:ext cx="177180" cy="14175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210398" y="3477964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Configuration before customization.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Standardize first, then tailor only where business value is proven.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CF082-4EE3-4CBC-6A1D-8A9126B00FB0}"/>
              </a:ext>
            </a:extLst>
          </p:cNvPr>
          <p:cNvSpPr/>
          <p:nvPr/>
        </p:nvSpPr>
        <p:spPr>
          <a:xfrm>
            <a:off x="7818764" y="4822031"/>
            <a:ext cx="1286318" cy="306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345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&amp; Reporting Strategy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69963"/>
            <a:ext cx="2622724" cy="1960662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1180" y="1495276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6927" y="1956048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Historical Data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6927" y="2262560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Migrate 3–5 years of active records; archive older data for compliance and reference.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60601" y="1369963"/>
            <a:ext cx="2622724" cy="1960662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65662" y="1495276"/>
            <a:ext cx="212601" cy="21260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421410" y="1956048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Unified Reporting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3421410" y="2262560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enterprise KPI dashboards; run parallel validation between legacy and new ERP during transition.</a:t>
            </a:r>
            <a:endParaRPr lang="en-US" sz="1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5083" y="1369963"/>
            <a:ext cx="2622724" cy="1960662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0145" y="1495276"/>
            <a:ext cx="212601" cy="21260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6185892" y="1956048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Month-End Close</a:t>
            </a:r>
            <a:endParaRPr lang="en-US" sz="1350" dirty="0"/>
          </a:p>
        </p:txBody>
      </p:sp>
      <p:sp>
        <p:nvSpPr>
          <p:cNvPr id="14" name="Text 6"/>
          <p:cNvSpPr/>
          <p:nvPr/>
        </p:nvSpPr>
        <p:spPr>
          <a:xfrm>
            <a:off x="6185892" y="2262560"/>
            <a:ext cx="23011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Execute parallel close procedures, validate financial reporting accuracy, then proceed to controlled cutover.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496119" y="3490094"/>
            <a:ext cx="8151763" cy="1009948"/>
          </a:xfrm>
          <a:prstGeom prst="roundRect">
            <a:avLst>
              <a:gd name="adj" fmla="val 2106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6" name="Shape 8"/>
          <p:cNvSpPr/>
          <p:nvPr/>
        </p:nvSpPr>
        <p:spPr>
          <a:xfrm>
            <a:off x="496119" y="3490094"/>
            <a:ext cx="2717229" cy="504974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7" name="Text 9"/>
          <p:cNvSpPr/>
          <p:nvPr/>
        </p:nvSpPr>
        <p:spPr>
          <a:xfrm>
            <a:off x="637877" y="3631853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Contribution Margin</a:t>
            </a:r>
            <a:endParaRPr lang="en-US" sz="1350" dirty="0"/>
          </a:p>
        </p:txBody>
      </p:sp>
      <p:sp>
        <p:nvSpPr>
          <p:cNvPr id="18" name="Shape 10"/>
          <p:cNvSpPr/>
          <p:nvPr/>
        </p:nvSpPr>
        <p:spPr>
          <a:xfrm>
            <a:off x="3213348" y="3490094"/>
            <a:ext cx="2717229" cy="504974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9" name="Shape 11"/>
          <p:cNvSpPr/>
          <p:nvPr/>
        </p:nvSpPr>
        <p:spPr>
          <a:xfrm>
            <a:off x="3213348" y="3490094"/>
            <a:ext cx="19050" cy="504974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0" name="Text 12"/>
          <p:cNvSpPr/>
          <p:nvPr/>
        </p:nvSpPr>
        <p:spPr>
          <a:xfrm>
            <a:off x="3355107" y="3631853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Labor Utilization</a:t>
            </a:r>
            <a:endParaRPr lang="en-US" sz="1350" dirty="0"/>
          </a:p>
        </p:txBody>
      </p:sp>
      <p:sp>
        <p:nvSpPr>
          <p:cNvPr id="21" name="Shape 13"/>
          <p:cNvSpPr/>
          <p:nvPr/>
        </p:nvSpPr>
        <p:spPr>
          <a:xfrm>
            <a:off x="5930578" y="3490094"/>
            <a:ext cx="2717229" cy="504974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2" name="Shape 14"/>
          <p:cNvSpPr/>
          <p:nvPr/>
        </p:nvSpPr>
        <p:spPr>
          <a:xfrm>
            <a:off x="5930578" y="3490094"/>
            <a:ext cx="19050" cy="504974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3" name="Text 15"/>
          <p:cNvSpPr/>
          <p:nvPr/>
        </p:nvSpPr>
        <p:spPr>
          <a:xfrm>
            <a:off x="6072336" y="3631853"/>
            <a:ext cx="243371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BOM Accuracy</a:t>
            </a:r>
            <a:endParaRPr lang="en-US" sz="1350" dirty="0"/>
          </a:p>
        </p:txBody>
      </p:sp>
      <p:sp>
        <p:nvSpPr>
          <p:cNvPr id="24" name="Shape 16"/>
          <p:cNvSpPr/>
          <p:nvPr/>
        </p:nvSpPr>
        <p:spPr>
          <a:xfrm>
            <a:off x="496119" y="3995068"/>
            <a:ext cx="4075807" cy="504974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5" name="Shape 17"/>
          <p:cNvSpPr/>
          <p:nvPr/>
        </p:nvSpPr>
        <p:spPr>
          <a:xfrm>
            <a:off x="496119" y="3995068"/>
            <a:ext cx="4075807" cy="1905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6" name="Text 18"/>
          <p:cNvSpPr/>
          <p:nvPr/>
        </p:nvSpPr>
        <p:spPr>
          <a:xfrm>
            <a:off x="637877" y="4136827"/>
            <a:ext cx="37922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Inventory Accuracy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4571926" y="3995068"/>
            <a:ext cx="4075881" cy="504974"/>
          </a:xfrm>
          <a:prstGeom prst="rect">
            <a:avLst/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8" name="Shape 20"/>
          <p:cNvSpPr/>
          <p:nvPr/>
        </p:nvSpPr>
        <p:spPr>
          <a:xfrm>
            <a:off x="4571926" y="3995068"/>
            <a:ext cx="19050" cy="504974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9" name="Shape 21"/>
          <p:cNvSpPr/>
          <p:nvPr/>
        </p:nvSpPr>
        <p:spPr>
          <a:xfrm>
            <a:off x="4571926" y="3995068"/>
            <a:ext cx="4075881" cy="19050"/>
          </a:xfrm>
          <a:prstGeom prst="roundRect">
            <a:avLst>
              <a:gd name="adj" fmla="val 111628"/>
            </a:avLst>
          </a:prstGeom>
          <a:solidFill>
            <a:srgbClr val="D0CED9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30" name="Text 22"/>
          <p:cNvSpPr/>
          <p:nvPr/>
        </p:nvSpPr>
        <p:spPr>
          <a:xfrm>
            <a:off x="4713684" y="4136827"/>
            <a:ext cx="37923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On-Time Delivery</a:t>
            </a:r>
            <a:endParaRPr lang="en-US" sz="135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14FE20-7360-E0B8-3687-A24DAA0C51F9}"/>
              </a:ext>
            </a:extLst>
          </p:cNvPr>
          <p:cNvSpPr/>
          <p:nvPr/>
        </p:nvSpPr>
        <p:spPr>
          <a:xfrm>
            <a:off x="7818764" y="4822031"/>
            <a:ext cx="1286318" cy="306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92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Risks &amp; Mitigation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335732"/>
            <a:ext cx="8151763" cy="2472035"/>
          </a:xfrm>
          <a:prstGeom prst="roundRect">
            <a:avLst>
              <a:gd name="adj" fmla="val 86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GH"/>
          </a:p>
        </p:txBody>
      </p:sp>
      <p:sp>
        <p:nvSpPr>
          <p:cNvPr id="4" name="Shape 2"/>
          <p:cNvSpPr/>
          <p:nvPr/>
        </p:nvSpPr>
        <p:spPr>
          <a:xfrm>
            <a:off x="496119" y="174932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Shape 3"/>
          <p:cNvSpPr/>
          <p:nvPr/>
        </p:nvSpPr>
        <p:spPr>
          <a:xfrm>
            <a:off x="496119" y="2160538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6" name="Shape 4"/>
          <p:cNvSpPr/>
          <p:nvPr/>
        </p:nvSpPr>
        <p:spPr>
          <a:xfrm>
            <a:off x="496119" y="2571750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7" name="Shape 5"/>
          <p:cNvSpPr/>
          <p:nvPr/>
        </p:nvSpPr>
        <p:spPr>
          <a:xfrm>
            <a:off x="496119" y="2982962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8" name="Shape 6"/>
          <p:cNvSpPr/>
          <p:nvPr/>
        </p:nvSpPr>
        <p:spPr>
          <a:xfrm>
            <a:off x="496119" y="3394174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9" name="Shape 7"/>
          <p:cNvSpPr/>
          <p:nvPr/>
        </p:nvSpPr>
        <p:spPr>
          <a:xfrm>
            <a:off x="3757836" y="1335732"/>
            <a:ext cx="8860" cy="247203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0" name="Text 8"/>
          <p:cNvSpPr/>
          <p:nvPr/>
        </p:nvSpPr>
        <p:spPr>
          <a:xfrm>
            <a:off x="642714" y="1430313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Risk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901976" y="1430313"/>
            <a:ext cx="5056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Mitigation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714" y="1841525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quality issues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01976" y="1841525"/>
            <a:ext cx="5056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governance framework established from Day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14" y="2252737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 creep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01976" y="2252737"/>
            <a:ext cx="5056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Formal Change Control Board with executive oversight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2714" y="2663949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adoption resistance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01976" y="2663949"/>
            <a:ext cx="5056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Structured training program with role-based onboarding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2714" y="3075161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failure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901976" y="3075161"/>
            <a:ext cx="5056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Early and iterative integration testing throughout build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2714" y="3486373"/>
            <a:ext cx="34281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Go-live disruption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901976" y="3486373"/>
            <a:ext cx="505658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Hypercare support model with contingency rollback plan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6119" y="3967237"/>
            <a:ext cx="8151763" cy="566961"/>
          </a:xfrm>
          <a:prstGeom prst="roundRect">
            <a:avLst>
              <a:gd name="adj" fmla="val 3751"/>
            </a:avLst>
          </a:prstGeom>
          <a:solidFill>
            <a:srgbClr val="D7D6F5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4168006"/>
            <a:ext cx="177180" cy="14175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956816" y="4144417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Proactive governance reduces implementation risk while protecting business continuity.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3BDDF1-1ED1-C194-B372-A26BE1A97EB0}"/>
              </a:ext>
            </a:extLst>
          </p:cNvPr>
          <p:cNvSpPr/>
          <p:nvPr/>
        </p:nvSpPr>
        <p:spPr>
          <a:xfrm>
            <a:off x="7818764" y="4822031"/>
            <a:ext cx="1286318" cy="306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4858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Executive Recommendation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920204"/>
            <a:ext cx="86089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Proceed with a phased cloud ERP transformation focused on: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96119" y="1166961"/>
            <a:ext cx="2661865" cy="795114"/>
          </a:xfrm>
          <a:prstGeom prst="roundRect">
            <a:avLst>
              <a:gd name="adj" fmla="val 204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5" name="Shape 3"/>
          <p:cNvSpPr/>
          <p:nvPr/>
        </p:nvSpPr>
        <p:spPr>
          <a:xfrm>
            <a:off x="604614" y="1275457"/>
            <a:ext cx="325562" cy="325562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134" y="1364977"/>
            <a:ext cx="146521" cy="1465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4614" y="1684065"/>
            <a:ext cx="244487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Continuity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41030" y="1166961"/>
            <a:ext cx="2661865" cy="795114"/>
          </a:xfrm>
          <a:prstGeom prst="roundRect">
            <a:avLst>
              <a:gd name="adj" fmla="val 204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9" name="Shape 6"/>
          <p:cNvSpPr/>
          <p:nvPr/>
        </p:nvSpPr>
        <p:spPr>
          <a:xfrm>
            <a:off x="3349526" y="1275457"/>
            <a:ext cx="325562" cy="325562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39046" y="1364977"/>
            <a:ext cx="146521" cy="1465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49526" y="1684065"/>
            <a:ext cx="244487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Engineering Integration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985942" y="1166961"/>
            <a:ext cx="2661865" cy="795114"/>
          </a:xfrm>
          <a:prstGeom prst="roundRect">
            <a:avLst>
              <a:gd name="adj" fmla="val 204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3" name="Shape 9"/>
          <p:cNvSpPr/>
          <p:nvPr/>
        </p:nvSpPr>
        <p:spPr>
          <a:xfrm>
            <a:off x="6094437" y="1275457"/>
            <a:ext cx="325562" cy="325562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83957" y="1364977"/>
            <a:ext cx="146521" cy="1465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94437" y="1684065"/>
            <a:ext cx="2444874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Governance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96119" y="2045122"/>
            <a:ext cx="4034284" cy="795114"/>
          </a:xfrm>
          <a:prstGeom prst="roundRect">
            <a:avLst>
              <a:gd name="adj" fmla="val 204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17" name="Shape 12"/>
          <p:cNvSpPr/>
          <p:nvPr/>
        </p:nvSpPr>
        <p:spPr>
          <a:xfrm>
            <a:off x="604614" y="2153617"/>
            <a:ext cx="325562" cy="325562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134" y="2243138"/>
            <a:ext cx="146521" cy="14652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4614" y="2562225"/>
            <a:ext cx="381729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Disciplined Scope Control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613449" y="2045122"/>
            <a:ext cx="4034358" cy="795114"/>
          </a:xfrm>
          <a:prstGeom prst="roundRect">
            <a:avLst>
              <a:gd name="adj" fmla="val 204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1" name="Shape 15"/>
          <p:cNvSpPr/>
          <p:nvPr/>
        </p:nvSpPr>
        <p:spPr>
          <a:xfrm>
            <a:off x="4721944" y="2153617"/>
            <a:ext cx="325562" cy="325562"/>
          </a:xfrm>
          <a:prstGeom prst="ellipse">
            <a:avLst/>
          </a:prstGeom>
          <a:solidFill>
            <a:srgbClr val="5955EB"/>
          </a:solidFill>
          <a:ln/>
        </p:spPr>
        <p:txBody>
          <a:bodyPr/>
          <a:lstStyle/>
          <a:p>
            <a:endParaRPr lang="en-GH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11464" y="2243138"/>
            <a:ext cx="146521" cy="14652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721944" y="2562225"/>
            <a:ext cx="381736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Financial Transparency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496119" y="2964879"/>
            <a:ext cx="815176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Expected Outcomes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496119" y="3259038"/>
            <a:ext cx="8151763" cy="882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profitability visibility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manufacturing delays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Accurate BOM management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Stronger executive reporting</a:t>
            </a:r>
            <a:endParaRPr lang="en-US" sz="850" dirty="0"/>
          </a:p>
          <a:p>
            <a:pPr marL="172720" indent="-172720" algn="l">
              <a:lnSpc>
                <a:spcPct val="118000"/>
              </a:lnSpc>
              <a:buSzPct val="100000"/>
              <a:buChar char="•"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Scalable digital platform</a:t>
            </a:r>
            <a:endParaRPr lang="en-US" sz="850" dirty="0"/>
          </a:p>
        </p:txBody>
      </p:sp>
      <p:sp>
        <p:nvSpPr>
          <p:cNvPr id="26" name="Shape 19"/>
          <p:cNvSpPr/>
          <p:nvPr/>
        </p:nvSpPr>
        <p:spPr>
          <a:xfrm>
            <a:off x="496119" y="4235053"/>
            <a:ext cx="14288" cy="493514"/>
          </a:xfrm>
          <a:prstGeom prst="roundRect">
            <a:avLst>
              <a:gd name="adj" fmla="val 59998"/>
            </a:avLst>
          </a:prstGeom>
          <a:solidFill>
            <a:srgbClr val="403CCF"/>
          </a:solidFill>
          <a:ln/>
        </p:spPr>
        <p:txBody>
          <a:bodyPr/>
          <a:lstStyle/>
          <a:p>
            <a:endParaRPr lang="en-GH"/>
          </a:p>
        </p:txBody>
      </p:sp>
      <p:sp>
        <p:nvSpPr>
          <p:cNvPr id="27" name="Text 20"/>
          <p:cNvSpPr/>
          <p:nvPr/>
        </p:nvSpPr>
        <p:spPr>
          <a:xfrm>
            <a:off x="658862" y="4328517"/>
            <a:ext cx="798901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 disciplined, phased ERP transformation will enable AMG to modernize operations, improve profitability, and establish a scalable foundation for long-term growth.</a:t>
            </a:r>
            <a:endParaRPr lang="en-US" sz="8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951BC7-55AA-5261-23FF-0572A0A34DBA}"/>
              </a:ext>
            </a:extLst>
          </p:cNvPr>
          <p:cNvSpPr/>
          <p:nvPr/>
        </p:nvSpPr>
        <p:spPr>
          <a:xfrm>
            <a:off x="7818764" y="4822031"/>
            <a:ext cx="1286318" cy="306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485</Words>
  <Application>Microsoft Office PowerPoint</Application>
  <PresentationFormat>On-screen Show (16:9)</PresentationFormat>
  <Paragraphs>104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Libre Baskerville</vt:lpstr>
      <vt:lpstr>Open Sans</vt:lpstr>
      <vt:lpstr>Open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Franklina Addae</cp:lastModifiedBy>
  <cp:revision>3</cp:revision>
  <dcterms:created xsi:type="dcterms:W3CDTF">2026-07-19T01:41:08Z</dcterms:created>
  <dcterms:modified xsi:type="dcterms:W3CDTF">2026-07-19T12:11:55Z</dcterms:modified>
</cp:coreProperties>
</file>